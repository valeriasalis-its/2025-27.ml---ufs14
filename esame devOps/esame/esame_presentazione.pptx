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Buongiorno. Presento un sistema di rilevamento automatico della deforestazione amazzonica da immagini satellitari, basato su deep learning. Il lavoro combina un approccio non supervisionato e uno supervisionato.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e la struttura della presentazione: parto dal contesto, descrivo i dati, poi le due parti del progetto, i risultati e infine le conclusioni.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deforestazione e un'emergenza ambientale. I satelliti generano troppe immagini per l'analisi manuale, e l'etichettatura e costosa. Per questo punto su un metodo che funzioni anche senza etichette.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Due domande guidano il lavoro. La prima sul rilevamento senza etichette tramite autoencoder. La seconda sul transfer learning: capire se le feature apprese dall'autoencoder aiutano un classificatore.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dataset Planet contiene 40 mila immagini con tag multipli. L'ho scaricato con kagglehub. Per i vincoli di CPU ho usato i JPG a 3 bande e un sottoinsieme dei dati.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 tradotto i tag in due classi: normale e la foresta pura, anomalia tutto cio che indica intervento umano. Le nuvole non contano come anomalie. Il dataset risulta abbastanza bilanciato: 21 mila normali contro 16 mila anomalie.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immagini vengono ridimensionate a 128 e normalizzate. Punto fondamentale: l'autoencoder viene addestrato solo sulle normali. Le anomalie servono unicamente in valutazione. Tutto e reso riproducibile con un seed fisso.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e l'intuizione chiave. L'autoencoder comprime l'immagine in un vettore di 128 numeri e la ricostruisce. Allenato solo sul normale, ricostruisce male le anomalie. L'errore tra input e ricostruzione misura quanto e anomala l'immagine.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L'autoencoder e simmetrico. L'encoder dimezza la risoluzione quattro volte fino a un vettore di 128 numeri, il collo di bottiglia. Il decoder fa il percorso inverso e ricostruisce l'immagine. Uso LeakyReLU e una sigmoide finale. L'encoder viene salvato per riutilizzarlo dopo.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CAE viene addestrato a ricostruire se stesso, minimizzando l'errore quadratico medio. Uso EarlyStopping per fermarmi al punto migliore e non sprecare tempo su CPU. La curva di loss mostra la convergenza.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rilevamento e semplice: calcolo l'errore di ricostruzione per ogni immagine. Le anomalie hanno errore in media 2,4 volte piu alto delle normali. Questo errore e il punteggio; serve poi una soglia per decidere.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sinistra le due distribuzioni di errore, chiaramente separate. A destra la curva ROC con AUROC circa 0,79. Risultato notevole considerando che il modello non ha mai visto un'anomalia in addestramento.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punto importante: lo stesso modello da F1 0,27 o 0,76 a seconda della soglia. Il percentile 95 e troppo conservativo. Massimizzando l'F1 sulla curva precision-recall si ottiene un risultato realistico. L'AUROC, invece, non dipende dalla soglia.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d'impatto. Invece dell'errore medio, calcolo l'errore per ogni pixel: ottengo una heatmap che indica DOVE l'immagine e anomala. Le tre colonne sono: originale, ricostruzione, mappa di anomalia. Le zone calde sono tagli e strade.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capire cosa ha imparato il modello, proietto i vettori latenti in 2D con t-SNE e UMAP. Normali e anomalie occupano regioni distinte: significa che l'encoder ha imparato una rappresentazione semanticamente utile, pur senza etichette.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Nella seconda parte introduco le etichette. Riutilizzo l'encoder del CAE e lo confronto in tre configurazioni: congelato, con fine-tuning, e contro una rete addestrata da zero. Cosi misuro quanto vale il pre-addestramento non supervisionato.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veloce delle metriche per la commissione. Precision e recall misurano falsi positivi e falsi negativi. F1 le bilancia. L'AUROC misura la capacita di ordinamento ed e indipendente dalla soglia, quindi e la metrica piu equa per confrontare.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risultati. L'encoder congelato parte da AUROC 0,78. Sbloccandolo con il fine-tuning sale a 0,82. La CNN da zero raggiunge 0,86. Quindi il fine-tuning recupera gran parte del divario. Nota: aggiornare i numeri col run finale a 128 pixel.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Interpreto i risultati. La CNN vince perche ottimizza direttamente la classificazione, mentre le feature dell'autoencoder servono a ricostruire. Il fine-tuning le riadatta al compito. Il valore del metodo non supervisionato resta: niente etichette e mappe interpretabili.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sintesi: ho costruito un sistema che rileva deforestazione senza etichette, produce mappe interpretabili e fornisce feature riutilizzabili. La pipeline e completa e gira anche su CPU. I limiti principali sono hardware e di 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 gli sviluppi: usare le bande infrarosse e l'indice NDVI, passare a GPU e risoluzioni piu alte, provare SSIM e architetture pre-addestrate. E confrontarsi con metodi piu avanzati di anomaly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Grazie per l'attenzione. Resto a disposizione per le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2194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5E20"/>
                </a:solidFill>
              </a:rPr>
              <a:t>Anomaly Detection di Deforestazione
su Immagini Satellitari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555555"/>
                </a:solidFill>
              </a:rPr>
              <a:t>Convolutional Autoencoder (unsupervised) + Transfer Learning (supervised)</a:t>
            </a:r>
          </a:p>
          <a:p>
            <a:r>
              <a:rPr sz="1600">
                <a:solidFill>
                  <a:srgbClr val="555555"/>
                </a:solidFill>
              </a:rPr>
              <a:t>Stack: Python · TensorFlow / Keras · scikit-learn · Dataset Planet (Kaggle)</a:t>
            </a:r>
          </a:p>
          <a:p>
            <a:r>
              <a:rPr sz="1600">
                <a:solidFill>
                  <a:srgbClr val="555555"/>
                </a:solidFill>
              </a:rPr>
              <a:t>Tesi · ITS Angelo Rizzoli · 2026     |     Candidato: [Nome]   ·   Relatore: [Prof.]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1.  Contesto e problema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2.  Obiettivo e domande di ricerca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3.  Dataset e definizione di anomalia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4.  Pre-processing dei dati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5.  Parte 1 — Convolutional Autoencoder (unsupervised)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6.  Rilevamento via errore di ricostruzione + risultati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7.  Mappe di anomalia e spazio latente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8.  Parte 2 — Transfer learning (supervised)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9.  Confronto modelli e discussione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10. Conclusioni e sviluppi futuri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Contesto e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555555"/>
                </a:solidFill>
              </a:rPr>
              <a:t>Perche serve il rilevamento automatico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La foresta amazzonica perde circa 10.000 km² ogni anno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Conseguenze: perdita di biodiversita, emissioni di CO2, danni al clima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Il monitoraggio satellitare produce enormi quantita di immagini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Analizzarle manualmente e impraticabile su scala continentale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Etichettare le immagini richiede esperti e molto tempo (costoso)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Serve un sistema che individui automaticamente le zone alterate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Ideale: funzionare anche SENZA etichette (approccio non supervisionato)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Obiettivo e domande di ricerca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Domanda 1 — Rilevamento non supervisionato: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E possibile individuare anomalie (deforestazione) senza etichette?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Idea: addestrare un modello solo su foresta sana e misurare quanto 'si sorprende'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Domanda 2 — Trasferibilita delle feature: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Le rappresentazioni apprese senza etichette sono utili per classificare?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Confronto encoder pre-addestrato vs rete addestrata da zero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Contributo: un prototipo di monitoraggio ambientale a basso costo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555555"/>
                </a:solidFill>
              </a:rPr>
              <a:t>Planet — 'Understanding the Amazon from Space' (Kaggle)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40.479 immagini satellitari (chip) della regione amazzonica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Scaricato via kagglehub (mirror con JPG gia estratti)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Ogni immagine ha piu tag (etichettatura multi-label)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Tag atmosferici: clear, haze, partly_cloudy, cloudy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Tag di copertura: primary, water, agriculture, road, cultivation...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Versione multispettrale .tif (RGB+NIR) disponibile — usato JPG RGB per la CPU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Subset usato: 4.000 normali (training) + 1.000 + 1.000 (valutazione)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Definizione di Normale vs Anomalia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Scelta progettuale: tradurre i tag in due classi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NORMALE = foresta intatta: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ha il tag 'primary' e NESSUN tag di intervento umano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ANOMALIA = deforestazione / attivita umana: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agriculture, cultivation, road, selective_logging, slash_burn,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conventional_mine, artisinal_mine, bare_ground, blow_down, habitation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I tag meteo (nuvole/foschia) sono ignorati: non sono anomalie del suolo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0" y="201168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N. immagini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/>
                        <a:t>Normali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21.773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/>
                        <a:t>Anomalie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16.325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Pre-processing dei 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Caricamento immagini -&gt; array NumPy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Ridimensionamento a 128×128 pixel (compromesso dettaglio / costo CPU)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Normalizzazione dei valori dei pixel in [0, 1] (divisione per 255)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Split dei dati: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Training CAE: SOLO immagini normali (il modello non vede mai anomalie)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Validation: 10% delle normali, per EarlyStopping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Set di valutazione bilanciato: 1.000 normali + 1.000 anomalie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Seed fissato (42) -&gt; esperimenti riproducibili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Shuffle attivo ad ogni epoca per evitare bias d'ordine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Idea centrale — schema del metodo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1711909" cy="128016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Immagine
128×128×3</a:t>
            </a:r>
          </a:p>
        </p:txBody>
      </p:sp>
      <p:sp>
        <p:nvSpPr>
          <p:cNvPr id="6" name="Can 5"/>
          <p:cNvSpPr/>
          <p:nvPr/>
        </p:nvSpPr>
        <p:spPr>
          <a:xfrm>
            <a:off x="2169109" y="2944368"/>
            <a:ext cx="201168" cy="146304"/>
          </a:xfrm>
          <a:prstGeom prst="can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0277" y="2377440"/>
            <a:ext cx="1711909" cy="12801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ENCODER
(comprime)</a:t>
            </a:r>
          </a:p>
        </p:txBody>
      </p:sp>
      <p:sp>
        <p:nvSpPr>
          <p:cNvPr id="8" name="Can 7"/>
          <p:cNvSpPr/>
          <p:nvPr/>
        </p:nvSpPr>
        <p:spPr>
          <a:xfrm>
            <a:off x="4082186" y="2944368"/>
            <a:ext cx="201168" cy="146304"/>
          </a:xfrm>
          <a:prstGeom prst="can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83354" y="2377440"/>
            <a:ext cx="1711909" cy="128016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Latent
vector (128)</a:t>
            </a:r>
          </a:p>
        </p:txBody>
      </p:sp>
      <p:sp>
        <p:nvSpPr>
          <p:cNvPr id="10" name="Can 9"/>
          <p:cNvSpPr/>
          <p:nvPr/>
        </p:nvSpPr>
        <p:spPr>
          <a:xfrm>
            <a:off x="5995263" y="2944368"/>
            <a:ext cx="201168" cy="146304"/>
          </a:xfrm>
          <a:prstGeom prst="can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6431" y="2377440"/>
            <a:ext cx="1711909" cy="12801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DECODER
(ricostruisce)</a:t>
            </a:r>
          </a:p>
        </p:txBody>
      </p:sp>
      <p:sp>
        <p:nvSpPr>
          <p:cNvPr id="12" name="Can 11"/>
          <p:cNvSpPr/>
          <p:nvPr/>
        </p:nvSpPr>
        <p:spPr>
          <a:xfrm>
            <a:off x="7908340" y="2944368"/>
            <a:ext cx="201168" cy="146304"/>
          </a:xfrm>
          <a:prstGeom prst="can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09508" y="2377440"/>
            <a:ext cx="1711909" cy="128016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Ricostruzione</a:t>
            </a:r>
          </a:p>
        </p:txBody>
      </p:sp>
      <p:sp>
        <p:nvSpPr>
          <p:cNvPr id="14" name="Can 13"/>
          <p:cNvSpPr/>
          <p:nvPr/>
        </p:nvSpPr>
        <p:spPr>
          <a:xfrm>
            <a:off x="9821417" y="2944368"/>
            <a:ext cx="201168" cy="146304"/>
          </a:xfrm>
          <a:prstGeom prst="can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22585" y="2377440"/>
            <a:ext cx="1711909" cy="12801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Errore MSE
= Anomaly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12121"/>
                </a:solidFill>
              </a:rPr>
              <a:t>▪ Il modello impara a RICOSTRUIRE la foresta normale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12121"/>
                </a:solidFill>
              </a:rPr>
              <a:t>▪ Su un'anomalia (mai vista) la ricostruzione fallisce -&gt; errore alto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12121"/>
                </a:solidFill>
              </a:rPr>
              <a:t>▪ L'errore di ricostruzione diventa il punteggio di anomalia: nessuna etichetta richiesta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Parte 1 — Architettura del Convolutional Autoencoder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Ruolo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128×128×3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immagine RGB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Conv2D s2 ×4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64→32→16→8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downsampling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Flatten +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128 (latent)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collo di bottiglia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Dense + Reshape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8×8×256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espansione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Conv2DTranspose ×4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16→32→64→128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upsampling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Conv2D + Sigmoid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128×128×3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ricostruzione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79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</a:rPr>
              <a:t>▪ Encoder e Decoder simmetrici (a clessidra)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</a:rPr>
              <a:t>▪ Attivazione LeakyReLU (evita neuroni 'morti')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</a:rPr>
              <a:t>▪ Bottleneck 128: forza la compressione dell'essenziale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</a:rPr>
              <a:t>▪ Output Sigmoid -&gt; pixel in [0,1] come l'input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</a:rPr>
              <a:t>▪ ~1,8 milioni di parametri, leggero per CPU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</a:rPr>
              <a:t>▪ Encoder salvato a parte: riusato nella Parte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Addestramento del CAE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555555"/>
                </a:solidFill>
              </a:rPr>
              <a:t>Configurazione e accorgimenti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Obiettivo: input = output (ricostruzione dell'immagine)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Loss: MSE (errore quadratico medio) pixel per pixel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Ottimizzatore: Adam, learning rate 1e-3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Batch size 32, fino a 50 epoche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EarlyStopping (patience): ferma quando la val_loss smette di migliorare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restore_best_weights -&gt; tiene il modello migliore, scarta l'overfitting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ModelCheckpoint: salva su disco il miglior modello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Solo CPU: nessuna GPU disponibile su Windows (TF &gt;= 2.11)</a:t>
            </a:r>
          </a:p>
        </p:txBody>
      </p:sp>
      <p:pic>
        <p:nvPicPr>
          <p:cNvPr id="7" name="Picture 6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59280"/>
            <a:ext cx="4023360" cy="268224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Come avviene il rilevamento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Per ogni immagine calcolo l'errore di ricostruzione medio (MSE)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Errore basso -&gt; immagine simile alla foresta normale appresa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Errore alto -&gt; il modello fatica -&gt; probabile anomalia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Risultati osservati sui set di valutazione: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MSE medio normali  ≈  0,0013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MSE medio anomalie ≈  0,0031   (circa 2,4× piu alto)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L'errore funziona da 'anomaly score' continuo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Una soglia decide il confine normale / anomalia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Risultati — rilevamento non supervisionato</a:t>
            </a:r>
          </a:p>
        </p:txBody>
      </p:sp>
      <p:pic>
        <p:nvPicPr>
          <p:cNvPr id="5" name="Picture 4" descr="scor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760720" cy="329184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  <p:pic>
        <p:nvPicPr>
          <p:cNvPr id="6" name="Picture 5" descr="roc_c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463040"/>
            <a:ext cx="3657600" cy="365760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</a:rPr>
              <a:t>▪ Le distribuzioni di errore di normali e anomalie sono ben separate    —    AUROC ≈ 0.79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</a:rPr>
              <a:t>▪ Ottenuto senza UNA SOLA etichetta in addestramento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Scelta della soglia di decisione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La soglia trasforma il punteggio continuo in decisione binaria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Criterio A — percentile 95 dei normali: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conservativo (pochi falsi allarmi), ma recall bassa -&gt; F1 ≈ 0,27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Criterio B — soglia che massimizza l'F1: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ricerca sulla curva precision-recall -&gt; F1 ≈ 0,76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Lezione: l'AUROC e indipendente dalla soglia, l'F1 no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La scelta della soglia e cruciale quanto il modello stesso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Mappe di anomalia — il sistema mostra DOVE</a:t>
            </a:r>
          </a:p>
        </p:txBody>
      </p:sp>
      <p:pic>
        <p:nvPicPr>
          <p:cNvPr id="5" name="Picture 4" descr="anomaly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810" y="1280160"/>
            <a:ext cx="3771900" cy="502920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072865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</a:rPr>
              <a:t>▪ Errore calcolato per-pixel -&gt; heatmap sovrapponibile all'immagine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Visualizzazione dello spazio latente</a:t>
            </a:r>
          </a:p>
        </p:txBody>
      </p:sp>
      <p:pic>
        <p:nvPicPr>
          <p:cNvPr id="5" name="Picture 4" descr="tsne_la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120640" cy="438912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  <p:pic>
        <p:nvPicPr>
          <p:cNvPr id="6" name="Picture 5" descr="umap_la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45920"/>
            <a:ext cx="5120640" cy="438912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0728655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</a:rPr>
              <a:t>▪ Vettori latenti (128-dim) proiettati in 2D con t-SNE (sx) e UMAP (dx)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Parte 2 — Transfer learning (supervised)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Ora uso le etichette: classificazione binaria normale / anomalia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Riuso l'encoder gia addestrato dal CAE come estrattore di feature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Tre modelli a confronto: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1) Encoder FROZEN + testa densa — pesi del CAE congelati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2) Encoder FINE-TUNED — encoder sbloccato, learning rate basso (1e-4)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3) CNN from scratch — rete nuova addestrata end-to-end (baseline)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Stesso set di dati e stessa testa di classificazione per equita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Metriche: AUROC, F1, Precision, Recall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Le metriche, in breve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12121"/>
                </a:solidFill>
              </a:rPr>
              <a:t>▪ Precision: tra le immagini segnalate come anomale, quante lo sono davvero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12121"/>
                </a:solidFill>
              </a:rPr>
              <a:t>▪ Recall: tra le anomalie reali, quante ne ho effettivamente trovate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12121"/>
                </a:solidFill>
              </a:rPr>
              <a:t>▪ F1: media armonica di Precision e Recall (equilibrio tra le due)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12121"/>
                </a:solidFill>
              </a:rPr>
              <a:t>▪ AUROC: probabilita di ordinare correttamente un'anomalia sopra una normale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1.0 = perfetto · 0.5 = caso casuale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indipendente dalla soglia -&gt; ideale per confrontare modelli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Risultati — confronto supervised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6309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914400"/>
                <a:gridCol w="914400"/>
                <a:gridCol w="10058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Encoder 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0.69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Encoder fine-tuned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0.64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CNN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roc_supervi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572000" cy="457200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20624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</a:rPr>
              <a:t>▪ Frozen 0.78 -&gt; fine-tuning 0.82 -&gt; CNN scratch 0.86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</a:rPr>
              <a:t>▪ Il fine-tuning recupera gran parte del divario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Discussione — interpretazione dei risultati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Perche la CNN da zero vince?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Le feature del CAE sono ottimizzate per RICOSTRUIRE, non per DISCRIMINARE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La CNN ottimizza direttamente l'obiettivo di classificazione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Perche il fine-tuning aiuta?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Adatta le feature pre-apprese al nuovo compito senza ripartire da zero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Punti di forza del metodo non supervisionato: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nessuna etichetta richiesta, mappe interpretabili, feature riutilizzabili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Rilevamento di deforestazione SENZA etichette (AUROC ≈ 0.79)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Mappe di anomalia che indicano visivamente DOVE intervenire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Feature dell'autoencoder trasferibili: transfer learning funzionante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Pipeline completa e riproducibile, eseguibile anche su CPU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▪ Limiti del lavoro: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solo CPU, risoluzione 128px, sottoinsieme del dataset, 3 bande (RGB)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5E20"/>
                </a:solidFill>
              </a:rPr>
              <a:t>Sviluppi futuri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Immagini multispettrali .tif (RGB + NIR) con rasterio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– calcolo dell'indice NDVI -&gt; misura diretta della salute della vegetazione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GPU + dataset completo + risoluzione piu alta (256px)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SSIM al posto di MSE come metrica di anomalia (piu percettiva)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Encoder pre-addestrati (ResNet, EfficientNet) come base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</a:rPr>
              <a:t>▪ Confronto con metodi dedicati (PaDiM, PatchCore, autoencoder variazionali)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B5E20"/>
                </a:solidFill>
              </a:rPr>
              <a:t>Grazie per l'attenzione</a:t>
            </a:r>
          </a:p>
          <a:p>
            <a:r>
              <a:rPr sz="2400">
                <a:solidFill>
                  <a:srgbClr val="555555"/>
                </a:solidFill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